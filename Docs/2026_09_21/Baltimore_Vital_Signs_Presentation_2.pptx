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62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16768" y="475488"/>
            <a:ext cx="329184" cy="329184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98864" y="329184"/>
            <a:ext cx="256032" cy="256032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Need Concentrates — and Where to Start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 years of raw indicator data to a specific, evidence-backed recommendation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3120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3255264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10558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56078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67558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icons/fil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150" y="325526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56078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18918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17997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63517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74997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/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589" y="325526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63517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226357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(EDA)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825435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270955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82435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deck/icons/chartpi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27" y="3255264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70955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133795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732874" y="3611880"/>
            <a:ext cx="352958" cy="0"/>
          </a:xfrm>
          <a:prstGeom prst="line">
            <a:avLst/>
          </a:prstGeom>
          <a:noFill/>
          <a:ln w="19050">
            <a:solidFill>
              <a:srgbClr val="5C8F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178394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589874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deck/icons/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4466" y="3255264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178394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041234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0085832" y="28346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0B3B66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497312" y="3090672"/>
            <a:ext cx="731520" cy="731520"/>
          </a:xfrm>
          <a:prstGeom prst="ellipse">
            <a:avLst/>
          </a:prstGeom>
          <a:solidFill>
            <a:srgbClr val="B0401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deck/icons/bullsey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904" y="3255264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85832" y="2450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8F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9948672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each step in order — including the assumptions and limitations along the way — so the reasoning behind the final recommendation is reproducible, not just presentable.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RAW DATA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started with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BNIA's Baltimore Vital Signs workbook — 14 separate year-sheets (2010–2023), one row per Community Statistical Area, one column per indicator.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sheet also carries a 56th row for “Baltimore City” itself — a citywide aggregate, not a 56th community. We separated it out before any analysis; more on Slide 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463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7830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65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848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Statistical Areas per year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18120" y="33832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566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868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Year-sheets, 2010–2023 (coverage varies by indicator)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589520" y="4663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18120" y="49834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ck/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5166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86800" y="4800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52852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indicators across the workbook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CLEANING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cleaning step actually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is a direct output of the cleaning notebook, not a summary.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167,915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once reshaped into one tidy table (CSA × year × indicator)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5,662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placeholders (“––”) coerced to null, not zero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/ 223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were completely empty across all 14 years and dropped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915400" y="1874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295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values flagged for review — kept, not removed (see below)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/home/claude/deck/icons/map_B040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72968"/>
            <a:ext cx="164592" cy="16459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24128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communities renamed under 2020 CSA boundary definitions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2644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Greenmount East → Oliver/Johnston Square, Lauraville → Greater Lauraville. Joined on the 2010 name; some reflect real boundary redraws, others are naming changes only — pre/post comparisons for these seven carry a caution flag.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831336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deck/icons/clock_B040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277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24128" y="3767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 and current socioeconomic data never overlap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01421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indicators average only 5.9 of 14 years' coverage and stop by 2019; socioeconomic data runs to 2023. Correlations use 2018 as the richest aligned cross-section; current conditions are described separately using 2023.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4581144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home/claude/deck/icons/warn_B040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672584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24128" y="4517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were flagged, not deleted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1024128" y="476402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data, extremes are usually real. Downtown/Seton Hill alone accounts for 358 of the 1,371 flagged values — a small residential base against a large daytime population, not a data error.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5330952"/>
            <a:ext cx="347472" cy="347472"/>
          </a:xfrm>
          <a:prstGeom prst="ellipse">
            <a:avLst/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/home/claude/deck/icons/heartbeat_B040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22392"/>
            <a:ext cx="164592" cy="16459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24128" y="52669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is listed but has no usable data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1024128" y="55138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column exists in the workbook but is empty in all 14 years. Disability and English-proficiency indicators were not available in this dataset at all. Any claim resting on these has to be sourced elsewhere.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FIELDS WE CALCULATED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Potential Service Need Index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dimensions, each averaged from raw indicators as a within-year percentile rank (0–100), then averaged again — equally — into one composite score per community.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07592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6334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 less than HS diploma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16352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75304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6334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07792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907792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 + no internet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84064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43016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63347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75504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175504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share + female-headed households w/ children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351776" y="228600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10728" y="2487168"/>
            <a:ext cx="585216" cy="585216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ck/icons/heartbe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263347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43216" y="3172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443216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Overdose + narcotics calls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54896" y="3200400"/>
            <a:ext cx="320040" cy="0"/>
          </a:xfrm>
          <a:prstGeom prst="line">
            <a:avLst/>
          </a:prstGeom>
          <a:noFill/>
          <a:ln w="25400">
            <a:solidFill>
              <a:srgbClr val="1D5F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9820656" y="214884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0B3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9893808" y="23317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Index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893808" y="29260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893808" y="35844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E3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 Lower / Moderate / High / Highest, cut at 40 / 55 / 70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548640" y="46177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822960" y="4754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judgment calls, stated plainly: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equally across dimensions, not indicators.</a:t>
            </a: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Averaging all 7 raw indicators together would give navigation and complex care (2 indicators each) double the weight of health literacy (1) — averaging within each dimension first, then across dimensions, avoids that.
</a:t>
            </a: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“Years below city” is a calculated field, not raw data.</a:t>
            </a: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community's 2018 life expectancy minus that year's citywide value — built specifically so every chart could show distance from average, not just an absolute number.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look: how wide is the gap, really?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notebook's exploratory pass on the 2018 cross-section — the year with the richest health-indicator coverage. Output shown verbatim.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931920"/>
          </a:xfrm>
          <a:prstGeom prst="roundRect">
            <a:avLst>
              <a:gd name="adj" fmla="val 1395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print min/max/gap, then nsmallest(5) and nlargest(5) on Life Expectancy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expectancy 2018:  min 63.2   max 84.7   GAP 21.6 years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5: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Life Expectancy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                     63.2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                     66.4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                    67.1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Poppleton/The Terraces/Hollins Market             67.2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Clifton-Berea                                     67.4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5: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Life Expectancy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CSA2010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Cross-Country/Cheswolde                       84.7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Greater Roland Park/Poplar Hill               82.7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Baltimore/Guilford/Homeland             82.6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Harbor/Federal Hill                     80.8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Canton                                        80.8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21.6-year raw range includes Downtown/Seton Hill, a small-residential-population outlier flagged in cleaning. Excluding it gives the more defensible 18.3-year figure used in the recommendation.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correlates with life expectancy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indicator with usable 2018 coverage, correlated against life expectancy. Output shown verbatim — the truncated names (“…”) are pandas' own column-width truncation, not 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3794760"/>
          </a:xfrm>
          <a:prstGeom prst="roundRect">
            <a:avLst>
              <a:gd name="adj" fmla="val 1446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[20]:  cors = usable.corrwith(usable[life_expectancy]); cors.head(12) / cors.tail(12)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NEGATIVE correlates (worse outcome as this rises):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(45-64 Years old)                 -0.913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Female-Headed Households with Childr... -0.827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(25-44 Years old)                 -0.812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Properties with Housi... -0.797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Families Receiving TANF                 -0.791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Shootings per 1,000 Residents            -0.770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with No Vehicles Available   -0.759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Mortality by Age (65-84 Years old)                 -0.750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Less than $25,000    -0.743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Residential Tax Lien Sales           -0.728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Gun-Related Homicides per 1,000 Resid... -0.725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Children Living Below the Poverty Line  -0.713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2860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POSITIVE correlates: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Births Delivered at Term (37-42 Weeks)   0.610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16-64 Employed                   0.655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Homestead Tax Credits per 1,000 Resid...  0.685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of Housing Units that are Owner-Occu...  0.685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Babies Born with a Satisfactory Birt...  0.694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Population that Drove Alone to Work      0.697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(25 Years and over) with a B...  0.722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Residents - White/Caucasian (Non-His...  0.738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Price of Homes Sold                          0.784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Household Income                             0.784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Population (Over the age of 18) Who Vot...  0.801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 of Households Earning More than $75,000     0.810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5852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5852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output to the dashboard: </a:t>
            </a:r>
            <a:r>
              <a:rPr lang="en-US" sz="10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raw correlations are what let us group indicators into domains and choose the four dimensions in the Potential Service Need Index (Slide 5).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four service dimensions agree?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6596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df[dims].corr(method='spearman')  —  Spearman rank correlation, 4 service dimensions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Health lit.  Navigation  Caregiver  Complex care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literacy          —          0.68        0.39         0.68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 barriers     0.68          —         0.39         0.74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Caregiver load          0.39         0.39          —          0.39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care need       0.68         0.74        0.39           —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3159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community, by dimension: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663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Westport/Mount Winans/Lakeland (100)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743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9743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Oldtown/Middle East (90)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85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load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85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Pimlico/Arlington/Hilltop, Southern Park Heights, Greater Mondawmin (tied, 82)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961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5961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 (100)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5274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Caregiver Load doesn't travel with the other three (r=0.39 to each) — the other three move together fairly closely (r=0.68–0.74).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ANALYSIS — EDA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evictions and access barriers concentrate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communities per indicator.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881360" cy="310896"/>
          </a:xfrm>
          <a:prstGeom prst="roundRect">
            <a:avLst>
              <a:gd name="adj" fmla="val 17647"/>
            </a:avLst>
          </a:prstGeom>
          <a:solidFill>
            <a:srgbClr val="2E3D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881360" cy="128016"/>
          </a:xfrm>
          <a:prstGeom prst="rect">
            <a:avLst/>
          </a:prstGeom>
          <a:solidFill>
            <a:srgbClr val="1E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df.nlargest(5, indicator)  —  2023 values, four access-barrier indicators + eviction rate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Eviction rate /1,000 (2023)          No vehicle available (2023)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37.3    Oldtown/Middle East          63.0%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Downtown/Seton Hill          25.8    Sandtown-Winchester/Harlem   58.5%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 Hill                  21.5    Poppleton/The Terraces       55.3%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Southwest Baltimore          21.2    Upton/Druid Heights          51.4%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Southern Park Heights        18.1    Madison/East End             47.4%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internet at home (2023)           Unemployment rate (2023)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Dorchester/Ashburton          29.6%   Greater Rosemont            21.1%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Midway/Coldstream             23.8%   Upton/Druid Heights         20.2%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Dickeyville/Franklintown      20.4%   Midway/Coldstream           15.6%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Brooklyn/Curtis Bay           19.1%   Oldtown/Middle East         13.2%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Pimlico/Arlington/Hilltop     18.9%   Sandtown-Winchester         12.5%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VISUALIZATION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Tableau dashboard will show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gist of the planned dashboard — built from the analysis above, presented separately as an interactive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1: Overview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citywide Service Need Index map (percentile-based), five KPI cards, and a “What's Driving the Need” panel comparing any selected community to the citywide average on child poverty, eviction rate, no vehicle, overdose calls, and unemployment.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517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2: Drivers &amp; Evidence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poverty-vs-overdose-calls scatter (the health-adjacent outcome that reaches 2023, unlike life expectancy — Slide 4), an eviction-rate ranking by community, and an access-barrier heatmap (Slide 9): no vehicle, no internet, unemployment, low education.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58200" y="2468880"/>
            <a:ext cx="731520" cy="731520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ck/icons/rou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6517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3: Community Detail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977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filterable profile card across 16 indicators for any single community — the only place life expectancy appears (Slides 6–8's focus), since it's the one indicator here with no data after 2018.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INTERPRETATION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and the dashboard actually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45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and short life expectancy sit in the same 5–8 communities, year after year.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110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Baltimore, Greenmount East, Clifton-Berea, and Midway/Coldstream each landed in the city's worst 10 for life expectancy in all 8 years measured (2011–2018) — this is a standing pattern, not a bad year.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housing condition, and safety explain most of the gap; employment and business activity barely do.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0815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 correlate of life expectancy is % of households earning &gt;$75,000 (r=0.81); the weakest domain tracked is business activity (median |r|=0.06).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86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need is highest” and “where a specific service is needed most” are different maps.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51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service dimensions barely agree with each other (rank correlation ≈ 0.39) — Sandtown-Winchester leads on complex care but not on navigation barriers; Westport leads on health literacy but appears nowhere else.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29184" cy="329184"/>
          </a:xfrm>
          <a:prstGeom prst="ellipse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138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056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gap between communities is widening, even as absolute conditions improved for both.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4223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between the city's 90th- and 10th-percentile community widened for education, poverty, no-vehicle, and income (e.g. no HS diploma: 3.3×→6.2×). In raw percentage-point terms, three of these four gaps actually narrowed as conditions improved citywide; only income widened on both measures.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start, if resources are limited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communities meet every test: high need, chronic (7–8 of the last 8 years in the worst 10), and large enough to reach a meaningful number of residents.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13,189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−6.3 yrs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61488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2898648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898648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6,955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898648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898648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 yrs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898648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898648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74336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111496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Clifton-Berea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111496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111496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11496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111496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111496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111496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−5.3 yrs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11496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87184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324344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Midway/Coldstream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324344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324344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324344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324344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7,393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24344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324344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−4.6 yrs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24344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324344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400032" y="210312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9537192" y="22402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Upton/Druid Heights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9537192" y="29260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score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537192" y="3108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537192" y="34747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Population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537192" y="365760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8,916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537192" y="40233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537192" y="420624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−4.2 yrs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537192" y="45720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Worst-10 yrs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537192" y="4754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48640" y="54406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822960" y="55961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44,030 residents (2020 census) </a:t>
            </a: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across these five communities. If only one placement is possible, </a:t>
            </a:r>
            <a:r>
              <a:rPr lang="en-US" sz="1300" b="1" dirty="0">
                <a:solidFill>
                  <a:srgbClr val="B0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Baltimore</a:t>
            </a:r>
            <a:r>
              <a:rPr lang="en-US" sz="130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the largest population of the group with the single largest life-expectancy gap in the city.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RECOMMENDATION (NAVIGATION &amp; ADVOCACY SERVICES)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narrower answer, for a narrower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specific question is where navigation and advocacy services would help most — not general need — the evidence points to two communities that carry both a physical barrier to care and the heaviest complex-care burden at once.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Sandtown-Winchester/Harlem Park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vehicle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58.5%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27.1% median (Baltimore's 55 CSAs)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100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5th-highest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7E7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2532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4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Greenmount East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barriers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/ 100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2nd-highest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care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/ 100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43251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city's 4th-highest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53492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five. </a:t>
            </a:r>
            <a:r>
              <a:rPr lang="en-US" sz="1250" dirty="0">
                <a:solidFill>
                  <a:srgbClr val="1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Greenmount East is the only overlap with the general recommendation on Slide 12 — general need and navigation-specific need are genuinely different maps, and the evidence should answer the question actually being asked.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4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— Service Need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548640"/>
            <a:ext cx="914400" cy="914400"/>
          </a:xfrm>
          <a:prstGeom prst="ellipse">
            <a:avLst/>
          </a:prstGeom>
          <a:solidFill>
            <a:srgbClr val="1D5FA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1188720"/>
            <a:ext cx="548640" cy="548640"/>
          </a:xfrm>
          <a:prstGeom prst="ellipse">
            <a:avLst/>
          </a:prstGeom>
          <a:solidFill>
            <a:srgbClr val="B0401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1392" y="1536192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OBSERVED, AND WHAT'S FIXABLE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88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from the analysis itself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/icons/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6771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09397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Deprivation looks clustered on the map — but that's not yet tested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4231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the tier map and persistence chart both cluster in the same neighborhoods. Fixable: run a formal spatial-autocorrelation test once boundaries are joined, to confirm clustering statistically rather than by eye.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/icons/war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14553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community drives a disproportionate share of flagged outliers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474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Downtown/Seton Hill alone accounts for 358 of 1,371 flagged values — a small residential base against a large daytime population. Fixable: flag low-denominator CSAs explicitly on every rate-based chart so a noisy rate isn't read as a finding.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s/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708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9709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Score's construction isn't perfectly balanced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26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several raw indicators cluster into overlapping constructs (e.g., three poverty-related measures), so one underlying idea can carry more weight than intended. Fixable: build and compare a construct-balanced variant — showing the rankings are robust to this is stronger than asserting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B04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s/heartbea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42239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24865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status — arguably the central navigation variable — isn't in this data at all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55778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no insurance, disability, or English-proficiency indicator exists anywhere in the workbook. Fixable: this has to be sourced from a partner (e.g., a clinic's no-show/appointment data) before the navigation recommendation can be directly confirmed rather than inferred.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8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Vital Signs data · Baltimore Neighborhood Indicators Alliance (BNIA) · 2010–2023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2579</Words>
  <Application>Microsoft Office PowerPoint</Application>
  <PresentationFormat>Widescreen</PresentationFormat>
  <Paragraphs>299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Sweta Kerketta</cp:lastModifiedBy>
  <cp:revision>2</cp:revision>
  <dcterms:created xsi:type="dcterms:W3CDTF">2026-09-21T06:18:14Z</dcterms:created>
  <dcterms:modified xsi:type="dcterms:W3CDTF">2026-09-21T07:18:29Z</dcterms:modified>
</cp:coreProperties>
</file>